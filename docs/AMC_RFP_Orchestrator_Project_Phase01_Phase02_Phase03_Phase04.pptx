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2" r:id="rId23"/>
    <p:sldId id="271" r:id="rId22"/>
    <p:sldId id="264" r:id="rId15"/>
    <p:sldId id="265" r:id="rId16"/>
    <p:sldId id="273" r:id="rId24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0.xml"/><Relationship Id="rId23" Type="http://schemas.openxmlformats.org/officeDocument/2006/relationships/slide" Target="slides/slide9.xml"/><Relationship Id="rId24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9900"/>
                </a:solidFill>
                <a:latin typeface="Calibri"/>
              </a:rPr>
              <a:t>MUTUAL FUND AMC  •  AGENTIC AI ON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AMC RFP &amp; Portfolio Insight</a:t>
            </a:r>
          </a:p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8D3DE"/>
                </a:solidFill>
                <a:latin typeface="Calibri"/>
              </a:rPr>
              <a:t>A Multi-Agent Agentic AI System for Institutional RFP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8D3DE"/>
                </a:solidFill>
                <a:latin typeface="Calibri"/>
              </a:rPr>
              <a:t>and Portfolio Insight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7B4"/>
                </a:solidFill>
                <a:latin typeface="Calibri"/>
              </a:rPr>
              <a:t>Built on the AWS Strands Agents Framework  |  Amazon Bedrock AgentCore  |  Terraform  |  GitHub Actions CI/CD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7B4"/>
                </a:solidFill>
                <a:latin typeface="Calibri"/>
              </a:rPr>
              <a:t>Consolidated Project Report Deck (Phases 01–04)  •  July 2026</a:t>
            </a:r>
          </a:p>
        </p:txBody>
      </p:sp>
      <p:sp>
        <p:nvSpPr>
          <p:cNvPr id="9" name="Oval 8"/>
          <p:cNvSpPr/>
          <p:nvPr/>
        </p:nvSpPr>
        <p:spPr>
          <a:xfrm>
            <a:off x="9418320" y="1600200"/>
            <a:ext cx="256032" cy="256032"/>
          </a:xfrm>
          <a:prstGeom prst="ellipse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02368" y="1600200"/>
            <a:ext cx="256032" cy="256032"/>
          </a:xfrm>
          <a:prstGeom prst="ellipse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86416" y="1600200"/>
            <a:ext cx="256032" cy="256032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70464" y="1600200"/>
            <a:ext cx="256032" cy="256032"/>
          </a:xfrm>
          <a:prstGeom prst="ellipse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54512" y="1600200"/>
            <a:ext cx="256032" cy="256032"/>
          </a:xfrm>
          <a:prstGeom prst="ellipse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70000"/>
            <a:ext cx="105156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FF9900"/>
                </a:solidFill>
                <a:latin typeface="Calibri"/>
              </a:rPr>
              <a:t>Phase 01 — Local Development (Complete)      |      Phase 02 — AWS Cloud Deployment (Dev Proven)      |      Phase 03 — CI/CD Automation (Dev Proven)      |      Phase 04 — Gateway &amp; Memory (Dev Live-Verified)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A636E"/>
                </a:solidFill>
                <a:latin typeface="Calibri"/>
              </a:rPr>
              <a:t>Institutional RFP responses today take days and require a compliance officer, portfolio analyst, and relationship manager to manually assemble data, narrative, and sign-off across disjointed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2724912" cy="21488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724912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487168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32F3E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089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B00"/>
                </a:solidFill>
                <a:latin typeface="Calibri"/>
              </a:rPr>
              <a:t>Specialised AI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49300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Quant, Qual, Compliance, Revisor, Reporting — each with one clear job, not one prompt doing everything.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2286000"/>
            <a:ext cx="2724912" cy="21488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2286000"/>
            <a:ext cx="2724912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2487168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32F3E"/>
                </a:solidFill>
                <a:latin typeface="Calibri"/>
              </a:rPr>
              <a:t>Self-correcting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31089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B00"/>
                </a:solidFill>
                <a:latin typeface="Calibri"/>
              </a:rPr>
              <a:t>Compliance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49300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Every draft is judged against the AMC's rubric and automatically revised until compliant, or safely escalated.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286000"/>
            <a:ext cx="2724912" cy="21488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2286000"/>
            <a:ext cx="2724912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487168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32F3E"/>
                </a:solidFill>
                <a:latin typeface="Calibri"/>
              </a:rPr>
              <a:t>11.6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31089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B00"/>
                </a:solidFill>
                <a:latin typeface="Calibri"/>
              </a:rPr>
              <a:t>End-to-end on Bedrock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49300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vs. 5–10+ minutes on a free local model, and vs. 3.5–6.0 person-hours manually today.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3416" y="2286000"/>
            <a:ext cx="2724912" cy="214884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2286000"/>
            <a:ext cx="2724912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008" y="2487168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32F3E"/>
                </a:solidFill>
                <a:latin typeface="Calibri"/>
              </a:rPr>
              <a:t>90–95%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310896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B00"/>
                </a:solidFill>
                <a:latin typeface="Calibri"/>
              </a:rPr>
              <a:t>Reduction in staff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349300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Illustrative ~$245,700/year saved at 50 RFPs/month, with a stronger audit trail than the manual process.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0916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72B"/>
                </a:solidFill>
                <a:latin typeface="Calibri"/>
              </a:rPr>
              <a:t>Rather than one large-language-model prompt attempting everything at once — opaque, hard to govern, and prone to compliance mistakes — the system decomposes the work the way a real AMC team would, collaborating through a governed, auditable workflow graph with full traceability of every agent's reasoning and every data point's provenance.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Business Context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32F3E"/>
                </a:solidFill>
                <a:latin typeface="Calibri"/>
              </a:rPr>
              <a:t>The Operational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 b="1">
                <a:solidFill>
                  <a:srgbClr val="22272B"/>
                </a:solidFill>
                <a:latin typeface="Calibri"/>
              </a:rPr>
              <a:t>▪  Quantitative data</a:t>
            </a:r>
            <a:r>
              <a:rPr sz="1300" b="0">
                <a:solidFill>
                  <a:srgbClr val="5A636E"/>
                </a:solidFill>
                <a:latin typeface="Calibri"/>
              </a:rPr>
              <a:t>  — NAV, Alpha, Beta, Sharpe/Sortino, Std. Dev., R², trailing returns — lives in a data warehouse.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 b="1">
                <a:solidFill>
                  <a:srgbClr val="22272B"/>
                </a:solidFill>
                <a:latin typeface="Calibri"/>
              </a:rPr>
              <a:t>▪  Qualitative narrative</a:t>
            </a:r>
            <a:r>
              <a:rPr sz="1300" b="0">
                <a:solidFill>
                  <a:srgbClr val="5A636E"/>
                </a:solidFill>
                <a:latin typeface="Calibri"/>
              </a:rPr>
              <a:t>  — Fund-manager commentary, investment-committee notes, macro outlook — unstructured, in a knowledge base.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 b="1">
                <a:solidFill>
                  <a:srgbClr val="22272B"/>
                </a:solidFill>
                <a:latin typeface="Calibri"/>
              </a:rPr>
              <a:t>▪  Regulatory compliance</a:t>
            </a:r>
            <a:r>
              <a:rPr sz="1300" b="0">
                <a:solidFill>
                  <a:srgbClr val="5A636E"/>
                </a:solidFill>
                <a:latin typeface="Calibri"/>
              </a:rPr>
              <a:t>  — Every claim checked for disclosure rules — no return guarantees, mandatory disclaimers, hedged forward statements.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5486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36E"/>
                </a:solidFill>
                <a:latin typeface="Calibri"/>
              </a:rPr>
              <a:t>Today, assembling these three inputs is manual and sequential. It does not scale with RFP volume, is inconsistent between analysts, and carries real regulatory risk under deadline pressure.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32F3E"/>
                </a:solidFill>
                <a:latin typeface="Calibri"/>
              </a:rPr>
              <a:t>Why This Matters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0">
                <a:solidFill>
                  <a:srgbClr val="22272B"/>
                </a:solidFill>
                <a:latin typeface="Calibri"/>
              </a:rPr>
              <a:t>▪  Institutional RFP volume and due-diligence complexity are increasing as investors demand more risk transparency.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0">
                <a:solidFill>
                  <a:srgbClr val="22272B"/>
                </a:solidFill>
                <a:latin typeface="Calibri"/>
              </a:rPr>
              <a:t>▪  Compliance requirements are tightening — raising the cost of any inconsistency between analysts.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0">
                <a:solidFill>
                  <a:srgbClr val="22272B"/>
                </a:solidFill>
                <a:latin typeface="Calibri"/>
              </a:rPr>
              <a:t>▪  RFP turnaround time is a competitive differentiator in institutional sales cycles.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0">
                <a:solidFill>
                  <a:srgbClr val="22272B"/>
                </a:solidFill>
                <a:latin typeface="Calibri"/>
              </a:rPr>
              <a:t>▪  Generative AI has matured — the real bottleneck is trustworthy orchestration and compliance governance, not language generation.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Proposed Solution —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04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234440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234440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Ingest an institutional RFP question or portfolio query in plain English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8660" y="1801368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57200" y="1892808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892808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Retrieve exact quant metrics + qual commentary in parallel, from governed data sources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660" y="2459736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57200" y="2551176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551176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Synthesise a draft answer combining both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" y="3118104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57200" y="3209544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209544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Judge the draft with an automated “LLM-as-a-Judge” compliance agent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8660" y="3776472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57200" y="3867912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867912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Self-correct automatically on a REJECTED verdict — revise, then re-check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660" y="4434840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57200" y="4526280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526280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Escalate safely to a fixed holding message if compliance can't be reached in budget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8660" y="5093208"/>
            <a:ext cx="0" cy="9144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57200" y="5184648"/>
            <a:ext cx="502920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184648"/>
            <a:ext cx="6537960" cy="566928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72B"/>
                </a:solidFill>
                <a:latin typeface="Calibri"/>
              </a:rPr>
              <a:t>Deliver a polished, client-ready report via CLI or REST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234440"/>
            <a:ext cx="3749039" cy="5074920"/>
          </a:xfrm>
          <a:prstGeom prst="roundRect">
            <a:avLst>
              <a:gd name="adj" fmla="val 3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41732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9900"/>
                </a:solidFill>
                <a:latin typeface="Calibri"/>
              </a:rPr>
              <a:t>Not a Simple Chatbot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96596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▪  Numbers are tool-retrieved and real — never hallucinated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▪  A systematic, rubric-based compliance check on every draft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▪  The ability to iteratively fix a flagged issue automatically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▪  A full audit trail of exactly how each answer was produced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Why an Agentic AI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A636E"/>
                </a:solidFill>
                <a:latin typeface="Calibri"/>
              </a:rPr>
              <a:t>One or more agents autonomously plan, use tools, and take multi-step action toward a goal — as opposed to a single prompt-and-response LLM 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66544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Task Decomposition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Mirrors real AMC work: a Quant agent only pulls numbers, a Qual agent only retrieves narrative, a Compliance agent only judges — short, unambiguous, testable instructions per agent.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1920240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672" y="1920240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066544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Grounding Eliminates Hallucination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542032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Every quantitative figure is retrieved via a tool call, never recalled from model memory. Agents state “no data found” rather than estimate.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920240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920240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066544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Self-Correction, First-Class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542032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Compliance re-checking is built into the graph itself, not bolted on — a REJECTED verdict automatically triggers a bounded revise-and-recheck cycle.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33672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33672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79976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Deterministic, Auditable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55464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A structured-output schema (APPROVED/REJECTED) lets the surrounding code route deterministically, instead of parsing an opinion out of prose.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3672" y="4233672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33672" y="4233672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4379976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Full Observability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4855464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Lifecycle hooks emit structured, correlated logs for every agent action and tool call — a complete audit trail.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0144" y="4233672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10144" y="4233672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4" y="4379976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Never Silently Fails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4855464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A hard safety net (bounded attempts + fixed escalation message) guarantees unapproved content can never reach a client.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System Architecture — The Five-Agent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36E"/>
                </a:solidFill>
                <a:latin typeface="Calibri"/>
              </a:rPr>
              <a:t>Two entry-point agents run in parallel, feeding a compliance judge that can loop back through a revisor before final synthesis.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Quantitative Analyst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quant_data_pull  —  get_fund_performance()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55448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Qualitative Strategy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qual_narrative_pull  —  search_fund_commentary() (RAG)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880360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Chief Compliance Officer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compliance_check  —  LLM-as-a-Judge  →  APPROVED / REJECTED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3484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Revisor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revise_draft  —  fixes flagged issues, preserves every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434840"/>
            <a:ext cx="3794760" cy="8686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Client Reporting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final_synthesis  —  approved report OR fixed escalation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57400" y="2423160"/>
            <a:ext cx="2194560" cy="937260"/>
          </a:xfrm>
          <a:prstGeom prst="line">
            <a:avLst/>
          </a:prstGeom>
          <a:ln w="2222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909560" y="2423160"/>
            <a:ext cx="2194560" cy="937260"/>
          </a:xfrm>
          <a:prstGeom prst="line">
            <a:avLst/>
          </a:prstGeom>
          <a:ln w="2222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560320" y="3840480"/>
            <a:ext cx="3520440" cy="594360"/>
          </a:xfrm>
          <a:prstGeom prst="line">
            <a:avLst/>
          </a:prstGeom>
          <a:ln w="25400">
            <a:solidFill>
              <a:srgbClr val="B02A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3840480"/>
            <a:ext cx="3771899" cy="59436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206240" y="4160520"/>
            <a:ext cx="320040" cy="708659"/>
          </a:xfrm>
          <a:prstGeom prst="line">
            <a:avLst/>
          </a:prstGeom>
          <a:ln w="22225">
            <a:solidFill>
              <a:srgbClr val="E87B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03120" y="3913632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B02A2A"/>
                </a:solidFill>
                <a:latin typeface="Calibri"/>
              </a:rPr>
              <a:t>REJECTED (attempts &lt; max)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9136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2E7D32"/>
                </a:solidFill>
                <a:latin typeface="Calibri"/>
              </a:rPr>
              <a:t>APPROVED  or  attempts exhausted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187952"/>
            <a:ext cx="2743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E87B00"/>
                </a:solidFill>
                <a:latin typeface="Calibri"/>
              </a:rPr>
              <a:t>re-check after revision (loop-back edge)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23560"/>
            <a:ext cx="11292840" cy="777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72B"/>
                </a:solidFill>
                <a:latin typeface="Calibri"/>
              </a:rPr>
              <a:t>All edges into revise_draft / final_synthesis share the SAME condition function — a node becomes ready only once compliance_check has actually run. Two safety layers: MAX_COMPLIANCE_ATTEMPTS (default 3, graceful) and a hard node-execution ceiling that would fail the whole graph if the graceful layer never resolves.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5.2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Self-Correcting Compliance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F3E"/>
                </a:solidFill>
                <a:latin typeface="Calibri"/>
              </a:rPr>
              <a:t>The Governance Mechanism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Draft Answer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First pass or Revisor's rewrite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88920"/>
            <a:ext cx="3108960" cy="82296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Compliance Judge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Checked against 5-rule rubric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APPROVED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E6EEF6"/>
                </a:solidFill>
                <a:latin typeface="Calibri"/>
              </a:rPr>
              <a:t>→ final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402336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REJECTED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E6EEF6"/>
                </a:solidFill>
                <a:latin typeface="Calibri"/>
              </a:rPr>
              <a:t>→ revise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7492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Revisor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Fixes flags only; numbers preserved exactly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1680" y="2377440"/>
            <a:ext cx="0" cy="411480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88720" y="3611879"/>
            <a:ext cx="822960" cy="411481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11680" y="3611879"/>
            <a:ext cx="822959" cy="411481"/>
          </a:xfrm>
          <a:prstGeom prst="line">
            <a:avLst/>
          </a:prstGeom>
          <a:ln w="19050">
            <a:solidFill>
              <a:srgbClr val="B02A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011680" y="4709160"/>
            <a:ext cx="822959" cy="365760"/>
          </a:xfrm>
          <a:prstGeom prst="line">
            <a:avLst/>
          </a:prstGeom>
          <a:ln w="19050">
            <a:solidFill>
              <a:srgbClr val="E87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7160" y="5417820"/>
            <a:ext cx="320040" cy="0"/>
          </a:xfrm>
          <a:prstGeom prst="line">
            <a:avLst/>
          </a:prstGeom>
          <a:ln w="19050">
            <a:solidFill>
              <a:srgbClr val="E87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7160" y="3200400"/>
            <a:ext cx="0" cy="2217420"/>
          </a:xfrm>
          <a:prstGeom prst="line">
            <a:avLst/>
          </a:prstGeom>
          <a:ln w="19050">
            <a:solidFill>
              <a:srgbClr val="E87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7160" y="3200400"/>
            <a:ext cx="320040" cy="0"/>
          </a:xfrm>
          <a:prstGeom prst="line">
            <a:avLst/>
          </a:prstGeom>
          <a:ln w="19050">
            <a:solidFill>
              <a:srgbClr val="E87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03320" y="502920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7B00"/>
                </a:solidFill>
                <a:latin typeface="Calibri"/>
              </a:rPr>
              <a:t>capped at</a:t>
            </a:r>
          </a:p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7B00"/>
                </a:solidFill>
                <a:latin typeface="Calibri"/>
              </a:rPr>
              <a:t>MAX_COMPLIANCE_</a:t>
            </a:r>
          </a:p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87B00"/>
                </a:solidFill>
                <a:latin typeface="Calibri"/>
              </a:rPr>
              <a:t>ATTEMPTS (default 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69164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828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The Five-Rule Compliance Rubric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33172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No guarantees of future returns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Mandatory past-performance disclaimer whenever performance figures are quoted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Promissory language is flagged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Forward-looking statements are properly hedged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250" b="0">
                <a:solidFill>
                  <a:srgbClr val="22272B"/>
                </a:solidFill>
                <a:latin typeface="Calibri"/>
              </a:rPr>
              <a:t>▪  Balanced risk contextualisation for higher-risk funds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989320"/>
            <a:ext cx="11292840" cy="457200"/>
          </a:xfrm>
          <a:prstGeom prst="roundRect">
            <a:avLst>
              <a:gd name="adj" fmla="val 15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Fail-safe by construction: exactly two outcomes ever reach a client — an approved report, or the fixed escalation message. Never blended, never a silent third path.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Why the AWS Strands Agents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36E"/>
                </a:solidFill>
                <a:latin typeface="Calibri"/>
              </a:rPr>
              <a:t>Open-source, model-driven, built by AWS for production-grade agentic systems — selected for five concrete reasons.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956816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74519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Native Multi-Agent Graph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56231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GraphBuilder supports cyclic graphs with conditional edges, execution ordering, and built-in safety limits (timeout, max node executions) — exactly the primitive the compliance loop needs.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52344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926079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43784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Reliable Structured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825496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structured_output_model (Pydantic) turns the Compliance agent's verdict into a validated, typed object the graph can route on deterministically — not prose to parse.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21608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3895344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813048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Model-Agnostic 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794760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One factory function is the only place a concrete model class is referenced — Ollama (free, local) or AWS Bedrock, chosen by configuration, zero agent-code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90872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4864608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782312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Built-In Observability Hooks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64024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Lifecycle hooks (before/after agent invocation, before/after tool call) emit structured, correlated logs with no logging logic inside any agent's prompt.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660136"/>
            <a:ext cx="11292840" cy="896112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3504" y="5833872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751576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Production-Ready, AWS-Native Path to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733288"/>
            <a:ext cx="6720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Integrates natively with Amazon Bedrock and deploys onto standard AWS compute with no re-platforming — proven directly in Phase 02 on Amazon Bedrock AgentCore.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13 · PROJECT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Delivery Journey — What Was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09</a:t>
            </a:r>
          </a:p>
        </p:txBody>
      </p:sp>
      <p:sp>
        <p:nvSpPr>
          <p:cNvPr id="100" name="TextBox Intro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32F3E"/>
                </a:solidFill>
                <a:latin typeface="Calibri"/>
              </a:rPr>
              <a:t>The same 5-agent system moved through four concrete build phases — free local development, a live AWS deployment, a fully automated CI/CD pipeline, and governed tool access, conversational memory, and Cedar-based authorization controls.</a:t>
            </a:r>
          </a:p>
        </p:txBody>
      </p:sp>
      <p:sp>
        <p:nvSpPr>
          <p:cNvPr id="200" name="Phase Header 0"/>
          <p:cNvSpPr/>
          <p:nvPr/>
        </p:nvSpPr>
        <p:spPr>
          <a:xfrm>
            <a:off x="457200" y="1554480"/>
            <a:ext cx="2647874" cy="60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01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Local Development (DEV)</a:t>
            </a:r>
          </a:p>
        </p:txBody>
      </p:sp>
      <p:sp>
        <p:nvSpPr>
          <p:cNvPr id="201" name="Phase Pill 0"/>
          <p:cNvSpPr/>
          <p:nvPr/>
        </p:nvSpPr>
        <p:spPr>
          <a:xfrm>
            <a:off x="457200" y="2234480"/>
            <a:ext cx="2647874" cy="302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202" name="Phase Bullets 0"/>
          <p:cNvSpPr txBox="1"/>
          <p:nvPr/>
        </p:nvSpPr>
        <p:spPr>
          <a:xfrm>
            <a:off x="457200" y="2687120"/>
            <a:ext cx="2647874" cy="3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5-agent Strands graph with a self-correcting, LLM-as-a-Judge compliance loop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SQLite + ChromaDB data layer; Ollama (free, local) by default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FastAPI REST API + CLI, full unit + integration test suite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Hardened for resilience — never crashes, always a well-formed outcome</a:t>
            </a:r>
          </a:p>
        </p:txBody>
      </p:sp>
      <p:sp>
        <p:nvSpPr>
          <p:cNvPr id="203" name="Phase Header 1"/>
          <p:cNvSpPr/>
          <p:nvPr/>
        </p:nvSpPr>
        <p:spPr>
          <a:xfrm>
            <a:off x="3333674" y="1554480"/>
            <a:ext cx="2647874" cy="60000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02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AWS Cloud Deployment (Bedrock AgentCore)</a:t>
            </a:r>
          </a:p>
        </p:txBody>
      </p:sp>
      <p:sp>
        <p:nvSpPr>
          <p:cNvPr id="204" name="Phase Pill 1"/>
          <p:cNvSpPr/>
          <p:nvPr/>
        </p:nvSpPr>
        <p:spPr>
          <a:xfrm>
            <a:off x="3333674" y="2234480"/>
            <a:ext cx="2647874" cy="302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Calibri"/>
              </a:rPr>
              <a:t>Dev live-verified, then torn down</a:t>
            </a:r>
          </a:p>
        </p:txBody>
      </p:sp>
      <p:sp>
        <p:nvSpPr>
          <p:cNvPr id="205" name="Phase Bullets 1"/>
          <p:cNvSpPr txBox="1"/>
          <p:nvPr/>
        </p:nvSpPr>
        <p:spPr>
          <a:xfrm>
            <a:off x="3333674" y="2687120"/>
            <a:ext cx="2647874" cy="3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Terraform IaC — AgentCore Runtime, ECR, DynamoDB, OpenSearch/S3 Vectors, Bedrock KB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AgentCore entrypoint + DynamoDB/Knowledge-Base data-layer swap, Dockerfile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Live end-to-end proof — all 4 mock funds APPROVED on real AWS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Auto-sync RAG ingestion (S3 → SQS → Lambda → Knowledge Base)</a:t>
            </a:r>
          </a:p>
        </p:txBody>
      </p:sp>
      <p:sp>
        <p:nvSpPr>
          <p:cNvPr id="206" name="Phase Header 2"/>
          <p:cNvSpPr/>
          <p:nvPr/>
        </p:nvSpPr>
        <p:spPr>
          <a:xfrm>
            <a:off x="6210148" y="1554480"/>
            <a:ext cx="2647874" cy="60000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03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CI/CD Automation (GitHub Actions)</a:t>
            </a:r>
          </a:p>
        </p:txBody>
      </p:sp>
      <p:sp>
        <p:nvSpPr>
          <p:cNvPr id="207" name="Phase Pill 2"/>
          <p:cNvSpPr/>
          <p:nvPr/>
        </p:nvSpPr>
        <p:spPr>
          <a:xfrm>
            <a:off x="6210148" y="2234480"/>
            <a:ext cx="2647874" cy="302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Calibri"/>
              </a:rPr>
              <a:t>Proven end-to-end on real AWS (Dev)</a:t>
            </a:r>
          </a:p>
        </p:txBody>
      </p:sp>
      <p:sp>
        <p:nvSpPr>
          <p:cNvPr id="208" name="Phase Bullets 2"/>
          <p:cNvSpPr txBox="1"/>
          <p:nvPr/>
        </p:nvSpPr>
        <p:spPr>
          <a:xfrm>
            <a:off x="6210148" y="2687120"/>
            <a:ext cx="2647874" cy="3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OIDC federated auth — no long-lived AWS keys, least-privilege roles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pr-validate.yml (automatic) + deploy.yml (manual, build-once/promote)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Proven via a real cold-start dev redeploy — 7 IAM gaps found &amp; fixed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Staging/Production rollout designed, not yet executed</a:t>
            </a:r>
          </a:p>
        </p:txBody>
      </p:sp>
      <p:sp>
        <p:nvSpPr>
          <p:cNvPr id="209" name="Flow Arrow 0"/>
          <p:cNvSpPr txBox="1"/>
          <p:nvPr/>
        </p:nvSpPr>
        <p:spPr>
          <a:xfrm>
            <a:off x="3105074" y="1554480"/>
            <a:ext cx="228600" cy="6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2000" b="1">
                <a:solidFill>
                  <a:srgbClr val="5A636E"/>
                </a:solidFill>
                <a:latin typeface="Calibri"/>
              </a:rPr>
              <a:t>→</a:t>
            </a:r>
          </a:p>
        </p:txBody>
      </p:sp>
      <p:sp>
        <p:nvSpPr>
          <p:cNvPr id="210" name="Flow Arrow 1"/>
          <p:cNvSpPr txBox="1"/>
          <p:nvPr/>
        </p:nvSpPr>
        <p:spPr>
          <a:xfrm>
            <a:off x="5981548" y="1554480"/>
            <a:ext cx="228600" cy="6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2000" b="1">
                <a:solidFill>
                  <a:srgbClr val="5A636E"/>
                </a:solidFill>
                <a:latin typeface="Calibri"/>
              </a:rPr>
              <a:t>→</a:t>
            </a:r>
          </a:p>
        </p:txBody>
      </p:sp>
      <p:sp>
        <p:nvSpPr>
          <p:cNvPr id="299" name="TextBox Caption"/>
          <p:cNvSpPr txBox="1"/>
          <p:nvPr/>
        </p:nvSpPr>
        <p:spPr>
          <a:xfrm>
            <a:off x="457200" y="6180000"/>
            <a:ext cx="112772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6E"/>
                </a:solidFill>
                <a:latin typeface="Calibri"/>
              </a:rPr>
              <a:t>Each phase builds directly on the previous one — the five core agents never change, only the deployment target, automation layer, and optional capabilities layered on top.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09 / 18</a:t>
            </a:r>
          </a:p>
        </p:txBody>
      </p:sp>
      <p:sp>
        <p:nvSpPr>
          <p:cNvPr id="300" name="Flow Arrow 2"/>
          <p:cNvSpPr txBox="1"/>
          <p:nvPr/>
        </p:nvSpPr>
        <p:spPr>
          <a:xfrm>
            <a:off x="8858022" y="1554480"/>
            <a:ext cx="228600" cy="6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2000" b="1">
                <a:solidFill>
                  <a:srgbClr val="5A636E"/>
                </a:solidFill>
                <a:latin typeface="Calibri"/>
              </a:rPr>
              <a:t>→</a:t>
            </a:r>
          </a:p>
        </p:txBody>
      </p:sp>
      <p:sp>
        <p:nvSpPr>
          <p:cNvPr id="301" name="Phase Header 3"/>
          <p:cNvSpPr/>
          <p:nvPr/>
        </p:nvSpPr>
        <p:spPr>
          <a:xfrm>
            <a:off x="9086622" y="1554480"/>
            <a:ext cx="2647874" cy="60000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04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Gateway, Memory &amp; Policy (AgentCore)</a:t>
            </a:r>
          </a:p>
        </p:txBody>
      </p:sp>
      <p:sp>
        <p:nvSpPr>
          <p:cNvPr id="302" name="Phase Pill 3"/>
          <p:cNvSpPr/>
          <p:nvPr/>
        </p:nvSpPr>
        <p:spPr>
          <a:xfrm>
            <a:off x="9086622" y="2234480"/>
            <a:ext cx="2647874" cy="302640"/>
          </a:xfrm>
          <a:prstGeom prst="roundRect">
            <a:avLst>
              <a:gd name="adj" fmla="val 50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Calibri"/>
              </a:rPr>
              <a:t>Gateway/Memory live; Policy blocked</a:t>
            </a:r>
          </a:p>
        </p:txBody>
      </p:sp>
      <p:sp>
        <p:nvSpPr>
          <p:cNvPr id="303" name="Phase Bullets 3"/>
          <p:cNvSpPr txBox="1"/>
          <p:nvPr/>
        </p:nvSpPr>
        <p:spPr>
          <a:xfrm>
            <a:off x="9086622" y="2687120"/>
            <a:ext cx="2647874" cy="3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Real Lambda logic behind the Gateway; SigV4-signed tool routing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Real cross-turn AgentCore Memory read/write around the graph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AgentCore Policy (Cedar authorization) built, applies cleanly — blocked by a real AWS-side issue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0">
                <a:solidFill>
                  <a:srgbClr val="22272B"/>
                </a:solidFill>
                <a:latin typeface="Calibri"/>
              </a:rPr>
              <a:t>▪  Live-verified: real two-turn AWS test, confirmed via CloudWatch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14 · PHASE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Local Development Architecture — DEV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70432"/>
            <a:ext cx="2788920" cy="566928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CLI (cli.py) / FastAPI REST API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POST /api/v1/rfp  ·  GET /health, /health/ready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170432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Ollama — qwen2.5:7b-instruct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Default · free · local · CPU-only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874519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AWS Bedrock (opt-in per run)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MODEL_PROVIDER=bedrock — zero agent-code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783080"/>
            <a:ext cx="4709160" cy="105156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Strands Agents Graph — 5 Agents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quant + qual (parallel)  →  compliance (LLM-as-Judge)  →  revise / synthesize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1453896"/>
            <a:ext cx="685800" cy="854964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88720" y="1737360"/>
            <a:ext cx="26517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6EB4"/>
                </a:solidFill>
                <a:latin typeface="Calibri"/>
              </a:rPr>
              <a:t>graph(question) — in-process call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1421892"/>
            <a:ext cx="0" cy="704087"/>
          </a:xfrm>
          <a:prstGeom prst="line">
            <a:avLst/>
          </a:prstGeom>
          <a:ln w="19050">
            <a:solidFill>
              <a:srgbClr val="2E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503920" y="2125979"/>
            <a:ext cx="594360" cy="182881"/>
          </a:xfrm>
          <a:prstGeom prst="line">
            <a:avLst/>
          </a:prstGeom>
          <a:ln w="22225">
            <a:solidFill>
              <a:srgbClr val="2E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60920" y="2148840"/>
            <a:ext cx="16916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2E4157"/>
                </a:solidFill>
                <a:latin typeface="Calibri"/>
              </a:rPr>
              <a:t>get_model()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29184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SQLite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Quantitative fund metrics
(local_dev.db)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291840"/>
            <a:ext cx="516636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ChromaDB (persistent, on-disk)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RAG — qualitative fund-manager commentary  ·  data/chroma/  ·  all-MiniLM-L6-v2 embeddings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291840"/>
            <a:ext cx="288036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structlog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JSON/console logs, correlated
via lifecycle hooks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668780" y="2834639"/>
            <a:ext cx="4480560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12180" y="2834639"/>
            <a:ext cx="137160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49340" y="2834639"/>
            <a:ext cx="4297679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0040" y="4526280"/>
            <a:ext cx="173736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pydantic Settings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.env.dev (gitignored)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452628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Lifecycle Hooks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observability/hooks.py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452628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Mock Fund Data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4 funds, seeded on startup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303520"/>
            <a:ext cx="38404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7D32"/>
                </a:solidFill>
                <a:latin typeface="Calibri"/>
              </a:rPr>
              <a:t>loaded once at process startup — no external services required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5623560"/>
            <a:ext cx="11567160" cy="566928"/>
          </a:xfrm>
          <a:prstGeom prst="roundRect">
            <a:avLst>
              <a:gd name="adj" fmla="val 12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pytest — unit suite (no LLM) + integration suite (marker `integration`, auto-skips if Ollama unreachable)      |      config.settings.get_settings() — single source of config, never os.getenv() directly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309360"/>
            <a:ext cx="11567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6E"/>
                </a:solidFill>
                <a:latin typeface="Calibri"/>
              </a:rPr>
              <a:t>Same agent and tool code promotes unchanged to Phase 02 — only config.model_factory.get_model() and the data-layer facade change, nothing else.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15 · PHASE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Cloud Architecture — AWS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70432"/>
            <a:ext cx="2788920" cy="566928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Client Apps / Browser UI / REST API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boto3 invoke_agent_runtime (SigV4)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170432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GitHub Actions CI/CD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OIDC — short-lived AWS credentials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874519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Amazon ECR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Container images (build once, promote)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783080"/>
            <a:ext cx="4709160" cy="105156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Amazon Bedrock AgentCore Runtime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6EEF6"/>
                </a:solidFill>
                <a:latin typeface="Calibri"/>
              </a:rPr>
              <a:t>5-agent graph  ·  Public network mode  ·  IAM (SigV4) secured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1453896"/>
            <a:ext cx="685800" cy="854964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88720" y="1737360"/>
            <a:ext cx="26517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6EB4"/>
                </a:solidFill>
                <a:latin typeface="Calibri"/>
              </a:rPr>
              <a:t>SigV4 / IAM auth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1421892"/>
            <a:ext cx="0" cy="704087"/>
          </a:xfrm>
          <a:prstGeom prst="line">
            <a:avLst/>
          </a:prstGeom>
          <a:ln w="19050">
            <a:solidFill>
              <a:srgbClr val="2E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503920" y="2125979"/>
            <a:ext cx="594360" cy="182881"/>
          </a:xfrm>
          <a:prstGeom prst="line">
            <a:avLst/>
          </a:prstGeom>
          <a:ln w="22225">
            <a:solidFill>
              <a:srgbClr val="2E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60920" y="2148840"/>
            <a:ext cx="16916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2E4157"/>
                </a:solidFill>
                <a:latin typeface="Calibri"/>
              </a:rPr>
              <a:t>pull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29184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Amazon DynamoDB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Quantitative fund metrics
(pay-per-request)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291840"/>
            <a:ext cx="516636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OpenSearch Serverless / Amazon S3 Vectors
+ Amazon Bedrock Knowledge Base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RAG — qualitative fund-manager commentary retrieval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291840"/>
            <a:ext cx="2880360" cy="82296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Amazon Bedrock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6EEF6"/>
                </a:solidFill>
                <a:latin typeface="Calibri"/>
              </a:rPr>
              <a:t>Foundation models — Claude 3.5
Sonnet / Amazon Nova Lite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668780" y="2834639"/>
            <a:ext cx="4480560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12180" y="2834639"/>
            <a:ext cx="137160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49340" y="2834639"/>
            <a:ext cx="4297679" cy="457201"/>
          </a:xfrm>
          <a:prstGeom prst="line">
            <a:avLst/>
          </a:prstGeom>
          <a:ln w="19050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0040" y="4526280"/>
            <a:ext cx="173736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S3 Docs Bucket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Source commentary docs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452628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SQS Queue + DLQ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Batches change events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452628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AWS Lambda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E6EEF6"/>
                </a:solidFill>
                <a:latin typeface="Calibri"/>
              </a:rPr>
              <a:t>Triggers StartIngestionJob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057400" y="4892040"/>
            <a:ext cx="137160" cy="0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86200" y="4892040"/>
            <a:ext cx="137160" cy="0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4526280" y="4114800"/>
            <a:ext cx="480060" cy="411480"/>
          </a:xfrm>
          <a:prstGeom prst="line">
            <a:avLst/>
          </a:prstGeom>
          <a:ln w="19050">
            <a:solidFill>
              <a:srgbClr val="2E7D3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0040" y="5303520"/>
            <a:ext cx="38404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7D32"/>
                </a:solidFill>
                <a:latin typeface="Calibri"/>
              </a:rPr>
              <a:t>auto-sync ingestion (batched, async)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52628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41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E4157"/>
                </a:solidFill>
                <a:latin typeface="Calibri"/>
              </a:rPr>
              <a:t>AgentCore Gateway + Lambda Targets</a:t>
            </a:r>
          </a:p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E4157"/>
                </a:solidFill>
                <a:latin typeface="Calibri"/>
              </a:rPr>
              <a:t>(real tool logic, live-verified — Phase 04)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52628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41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E4157"/>
                </a:solidFill>
                <a:latin typeface="Calibri"/>
              </a:rPr>
              <a:t>AgentCore Memory</a:t>
            </a:r>
          </a:p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E4157"/>
                </a:solidFill>
                <a:latin typeface="Calibri"/>
              </a:rPr>
              <a:t>(real cross-turn read/write, live-verified — Phase 04)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5623560"/>
            <a:ext cx="11567160" cy="566928"/>
          </a:xfrm>
          <a:prstGeom prst="roundRect">
            <a:avLst>
              <a:gd name="adj" fmla="val 12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Amazon CloudWatch — log groups, dashboard, error/throttle alarms      |      AWS IAM — one least-privilege role per component (Runtime, Knowledge Base, Lambda, CI/CD)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309360"/>
            <a:ext cx="11567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A636E"/>
                </a:solidFill>
                <a:latin typeface="Calibri"/>
              </a:rPr>
              <a:t>Every resource is a reusable Terraform module, instantiated per environment (Dev / Staging / Prod) from identical code — only configuration differs.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16 · PHASE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CI/CD Pipeline — Trigger to Live AWS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232F3E"/>
                </a:solidFill>
                <a:latin typeface="Calibri"/>
              </a:rPr>
              <a:t>From a developer's pull request or an operator's manual dispatch, through OIDC-authenticated Terraform, to a live endpoint end users can call.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1554480"/>
            <a:ext cx="5394960" cy="52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Developer — Pull Request</a:t>
            </a:r>
          </a:p>
          <a:p>
            <a:pPr algn="ctr"/>
            <a:r>
              <a:rPr sz="950" b="0">
                <a:solidFill>
                  <a:srgbClr val="E6EEF6"/>
                </a:solidFill>
                <a:latin typeface="Calibri"/>
              </a:rPr>
              <a:t>opened/updated against main  →  pr-validate.yml (automatic)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1554480"/>
            <a:ext cx="5440680" cy="52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Operator — Manual Dispatch</a:t>
            </a:r>
          </a:p>
          <a:p>
            <a:pPr algn="ctr"/>
            <a:r>
              <a:rPr sz="950" b="0">
                <a:solidFill>
                  <a:srgbClr val="E6EEF6"/>
                </a:solidFill>
                <a:latin typeface="Calibri"/>
              </a:rPr>
              <a:t>workflow_dispatch: environment = dev / staging / prod  →  deploy.yml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334480"/>
            <a:ext cx="11247120" cy="560000"/>
          </a:xfrm>
          <a:prstGeom prst="roundRect">
            <a:avLst>
              <a:gd name="adj" fmla="val 8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GitHub Actions — OIDC Federated Auth</a:t>
            </a:r>
          </a:p>
          <a:p>
            <a:pPr algn="ctr"/>
            <a:r>
              <a:rPr sz="950" b="0">
                <a:solidFill>
                  <a:srgbClr val="E6EEF6"/>
                </a:solidFill>
                <a:latin typeface="Calibri"/>
              </a:rPr>
              <a:t>Short-lived AWS credentials via token.actions.githubusercontent.com — no long-lived keys ever stored in GitHub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154680" y="2074480"/>
            <a:ext cx="0" cy="260000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983980" y="2074480"/>
            <a:ext cx="0" cy="260000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57200" y="3054480"/>
            <a:ext cx="11247120" cy="650000"/>
          </a:xfrm>
          <a:prstGeom prst="roundRect">
            <a:avLst>
              <a:gd name="adj" fmla="val 8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ensure-ecr  →  build-and-push (dev) / promote (staging &amp; prod)  →  terraform-apply</a:t>
            </a:r>
          </a:p>
          <a:p>
            <a:pPr algn="ctr"/>
            <a:r>
              <a:rPr sz="950" b="0">
                <a:solidFill>
                  <a:srgbClr val="E6EEF6"/>
                </a:solidFill>
                <a:latin typeface="Calibri"/>
              </a:rPr>
              <a:t>Build once, promote the byte-identical image; Terraform provisions/updates the AWS footprint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80760" y="2894480"/>
            <a:ext cx="0" cy="160000"/>
          </a:xfrm>
          <a:prstGeom prst="line">
            <a:avLst/>
          </a:prstGeom>
          <a:ln w="22225">
            <a:solidFill>
              <a:srgbClr val="2E41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57200" y="3954480"/>
            <a:ext cx="2674620" cy="75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Amazon ECR</a:t>
            </a:r>
          </a:p>
          <a:p>
            <a:pPr algn="ctr"/>
            <a:r>
              <a:rPr sz="850" b="0">
                <a:solidFill>
                  <a:srgbClr val="E6EEF6"/>
                </a:solidFill>
                <a:latin typeface="Calibri"/>
              </a:rPr>
              <a:t>Container images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14700" y="3954480"/>
            <a:ext cx="2674620" cy="75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AgentCore Runtime / Gateway / Memory</a:t>
            </a:r>
          </a:p>
          <a:p>
            <a:pPr algn="ctr"/>
            <a:r>
              <a:rPr sz="850" b="0">
                <a:solidFill>
                  <a:srgbClr val="E6EEF6"/>
                </a:solidFill>
                <a:latin typeface="Calibri"/>
              </a:rPr>
              <a:t>The deployed 5-agent system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3954480"/>
            <a:ext cx="2674620" cy="75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DynamoDB + OpenSearch/S3 Vectors + Bedrock KB</a:t>
            </a:r>
          </a:p>
          <a:p>
            <a:pPr algn="ctr"/>
            <a:r>
              <a:rPr sz="850" b="0">
                <a:solidFill>
                  <a:srgbClr val="E6EEF6"/>
                </a:solidFill>
                <a:latin typeface="Calibri"/>
              </a:rPr>
              <a:t>Quant + qual RAG data layer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9700" y="3954480"/>
            <a:ext cx="2674620" cy="75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IAM + CloudWatch</a:t>
            </a:r>
          </a:p>
          <a:p>
            <a:pPr algn="ctr"/>
            <a:r>
              <a:rPr sz="850" b="0">
                <a:solidFill>
                  <a:srgbClr val="E6EEF6"/>
                </a:solidFill>
                <a:latin typeface="Calibri"/>
              </a:rPr>
              <a:t>Least-privilege roles · logs &amp; alarms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1794510" y="3704480"/>
            <a:ext cx="4286250" cy="250000"/>
          </a:xfrm>
          <a:prstGeom prst="line">
            <a:avLst/>
          </a:prstGeom>
          <a:ln w="2222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4652010" y="3704480"/>
            <a:ext cx="1428750" cy="250000"/>
          </a:xfrm>
          <a:prstGeom prst="line">
            <a:avLst/>
          </a:prstGeom>
          <a:ln w="2222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80760" y="3704480"/>
            <a:ext cx="1428750" cy="250000"/>
          </a:xfrm>
          <a:prstGeom prst="line">
            <a:avLst/>
          </a:prstGeom>
          <a:ln w="2222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080760" y="3704480"/>
            <a:ext cx="4286250" cy="250000"/>
          </a:xfrm>
          <a:prstGeom prst="line">
            <a:avLst/>
          </a:prstGeom>
          <a:ln w="2222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57200" y="4954480"/>
            <a:ext cx="11247120" cy="520000"/>
          </a:xfrm>
          <a:prstGeom prst="roundRect">
            <a:avLst>
              <a:gd name="adj" fmla="val 8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End User / Client Apps</a:t>
            </a:r>
          </a:p>
          <a:p>
            <a:pPr algn="ctr"/>
            <a:r>
              <a:rPr sz="950" b="0">
                <a:solidFill>
                  <a:srgbClr val="E6EEF6"/>
                </a:solidFill>
                <a:latin typeface="Calibri"/>
              </a:rPr>
              <a:t>boto3 invoke_agent_runtime (SigV4) — reaches the Runtime endpoint this pipeline just built/updated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4652010" y="4704480"/>
            <a:ext cx="0" cy="250000"/>
          </a:xfrm>
          <a:prstGeom prst="line">
            <a:avLst/>
          </a:prstGeom>
          <a:ln w="22225">
            <a:solidFill>
              <a:srgbClr val="146E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57200" y="5620000"/>
            <a:ext cx="11247120" cy="520000"/>
          </a:xfrm>
          <a:prstGeom prst="roundRect">
            <a:avLst>
              <a:gd name="adj" fmla="val 12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OIDC federated auth — no long-lived AWS keys ever stored in GitHub  ·  one shared read-only plan role for PRs  ·  one write-scoped deploy-&lt;env&gt; role per environment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180000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1" b="0">
                <a:solidFill>
                  <a:srgbClr val="5A636E"/>
                </a:solidFill>
                <a:latin typeface="Calibri"/>
              </a:rPr>
              <a:t>Same Terraform modules and container image promoted across dev → staging → prod — only configuration and the deploy-&lt;env&gt; IAM role differ.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17 · PHASE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Gateway-Routed Tools, AgentCore Memory &amp;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A636E"/>
                </a:solidFill>
                <a:latin typeface="Calibri"/>
              </a:rPr>
              <a:t>Three AWS capabilities provisioned since Phase 02 — governed tool access, cross-turn conversation memory, and Cedar-based tool authorization. Gateway and Memory are real, working, and live-verified end-to-end against real AWS; Policy is built and applies cleanly but is currently blocked by a real AWS-side issue.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66544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AgentCore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Data-retrieval tools now route through AWS's governed Gateway — one authenticated access point, reusable by other systems or future agents, not just this 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1920240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672" y="1920240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066544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AgentCore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542032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The system now retains a client’s earlier questions within a conversation, correctly resolving a follow-up like “that fund” back to what was asked before — without weakening compliance.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920240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920240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066544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Opt-In, Zero Behaviour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542032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Both capabilities are additive and independently switchable by configuration — existing direct-access, single-turn behaviour remains fully available when neither is switched 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33672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33672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79976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AgentCore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55464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A Cedar-based authorization layer now attaches to the Gateway, allow-listing both tools by name and validating their inputs — built and applying cleanly to real AWS, but blocked by a real platform-side issue that fails every tool call once attached; switched off until resolved.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3672" y="4233672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33672" y="4233672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4379976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Zero Added Compliance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4855464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Memory only supplies conversational context — every response is still independently synthesised, checked against the full rubric, and escalated exactly as before.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0144" y="4233672"/>
            <a:ext cx="36393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10144" y="4233672"/>
            <a:ext cx="73152" cy="21488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4" y="4379976"/>
            <a:ext cx="3227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Live-Verified, Not Just Deployed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4855464"/>
            <a:ext cx="32278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A real two-turn AWS test: an unnamed “that fund” follow-up was correctly resolved — confirmed in the answer and independently via the memory service.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Technology Stack &amp; Environment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F3E"/>
                </a:solidFill>
                <a:latin typeface="Calibri"/>
              </a:rPr>
              <a:t>Technology Stack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36192"/>
          <a:ext cx="5486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3950208"/>
              </a:tblGrid>
              <a:tr h="49784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Agent framework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AWS Strands Agents (v1.47)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Language / packaging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Python 3.12+, managed with uv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LLM — dev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Ollama (qwen2.5:7b-instruct) or AWS Bedrock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LLM — staging/prod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AWS Bedrock (always — governance requirement)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Quant data store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SQLite (dev) → Amazon DynamoDB (staging/prod)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Qual data store (RAG)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ChromaDB (dev) → OpenSearch Serverless / S3 Vectors + Bedrock KB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API layer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FastAPI — /health, /health/ready, POST /api/v1/rfp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>
                          <a:solidFill>
                            <a:srgbClr val="22272B"/>
                          </a:solidFill>
                          <a:latin typeface="Calibri"/>
                        </a:rPr>
                        <a:t>structlog JSON logs, trace/request-ID correlation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3640" y="11430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F3E"/>
                </a:solidFill>
                <a:latin typeface="Calibri"/>
              </a:rPr>
              <a:t>Environment 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36192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36192"/>
            <a:ext cx="82296" cy="123444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1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32F3E"/>
                </a:solidFill>
                <a:latin typeface="Calibri"/>
              </a:rPr>
              <a:t>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93391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100% local &amp; free by default — Ollama, SQLite, on-disk ChromaDB. Opt-in switch to real AWS Bedrock per-run for faster iteration.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953512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953512"/>
            <a:ext cx="82296" cy="1234440"/>
          </a:xfrm>
          <a:prstGeom prst="rect">
            <a:avLst/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0632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32F3E"/>
                </a:solidFill>
                <a:latin typeface="Calibri"/>
              </a:rPr>
              <a:t>STAGING /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410712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36E"/>
                </a:solidFill>
                <a:latin typeface="Calibri"/>
              </a:rPr>
              <a:t>Always AWS Bedrock for the LLM (governance requirement). Data layer promoted to DynamoDB + OpenSearch Serverless / Bedrock Knowledge 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43484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API 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800600"/>
            <a:ext cx="5440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 b="1">
                <a:solidFill>
                  <a:srgbClr val="22272B"/>
                </a:solidFill>
                <a:latin typeface="Calibri"/>
              </a:rPr>
              <a:t>▪  POST /api/v1/rfp</a:t>
            </a:r>
            <a:r>
              <a:rPr sz="1050" b="0">
                <a:solidFill>
                  <a:srgbClr val="5A636E"/>
                </a:solidFill>
                <a:latin typeface="Calibri"/>
              </a:rPr>
              <a:t>  — submit a question, get a structured outcome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 b="1">
                <a:solidFill>
                  <a:srgbClr val="22272B"/>
                </a:solidFill>
                <a:latin typeface="Calibri"/>
              </a:rPr>
              <a:t>▪  GET /health</a:t>
            </a:r>
            <a:r>
              <a:rPr sz="1050" b="0">
                <a:solidFill>
                  <a:srgbClr val="5A636E"/>
                </a:solidFill>
                <a:latin typeface="Calibri"/>
              </a:rPr>
              <a:t>  — liveness check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 b="1">
                <a:solidFill>
                  <a:srgbClr val="22272B"/>
                </a:solidFill>
                <a:latin typeface="Calibri"/>
              </a:rPr>
              <a:t>▪  GET /health/ready</a:t>
            </a:r>
            <a:r>
              <a:rPr sz="1050" b="0">
                <a:solidFill>
                  <a:srgbClr val="5A636E"/>
                </a:solidFill>
                <a:latin typeface="Calibri"/>
              </a:rPr>
              <a:t>  — model provider + data-store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Sample End-to-End Execution —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22272B"/>
                </a:solidFill>
                <a:latin typeface="Calibri"/>
              </a:rPr>
              <a:t>Real, unedited trace against AWS Bedrock (Claude 3.5 Sonnet): “Please provide the current risk metrics for the Fixed Income Core Bond Fund (INC2) and its current macroeconomic strategy.”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74519"/>
          <a:ext cx="745235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618"/>
                <a:gridCol w="1341424"/>
                <a:gridCol w="4844034"/>
                <a:gridCol w="894283"/>
              </a:tblGrid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quant_data_pull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Returned NAV, Alpha, Beta, Sharpe, Std. Dev., Sortino, R², 1Y/3Y returns; correctly declined the macro-strategy portion.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3.50 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qual_narrative_pull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Retrieved &amp; synthesised duration-risk strategy from manager commentary — ran in parallel with Step 1.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4.81 s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compliance_check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Synthesised draft, added mandatory disclaimer, hedged forward statement — APPROVED on first attempt.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4.71 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revise_draft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Not triggered — first-pass draft was already compliant.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final_synthesis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Assembled the final three-section client report.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2.12 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92440" y="1874519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38527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11.64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3134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D3DE"/>
                </a:solidFill>
                <a:latin typeface="Calibri"/>
              </a:rPr>
              <a:t>Total end-to-end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715768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779775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5467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D3DE"/>
                </a:solidFill>
                <a:latin typeface="Calibri"/>
              </a:rPr>
              <a:t>Compliance attempts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557015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621023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95927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D3DE"/>
                </a:solidFill>
                <a:latin typeface="Calibri"/>
              </a:rPr>
              <a:t>Escalated to manual review?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398264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462272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Zero fabrication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837175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D3DE"/>
                </a:solidFill>
                <a:latin typeface="Calibri"/>
              </a:rPr>
              <a:t>Every figure traced to governed source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2F3E"/>
                </a:solidFill>
                <a:latin typeface="Calibri"/>
              </a:rPr>
              <a:t>For comparison, the equivalent query on a free, local, CPU-only model has taken 5–10+ minutes in prior testing — the orchestration logic is identical; only the model provider changes. This is the measured basis for the cost/time analysis that follows.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Business Value — Cost &amp; Human Work-Hours Savings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A636E"/>
                </a:solidFill>
                <a:latin typeface="Calibri"/>
              </a:rPr>
              <a:t>Illustrative ROI model on reasonable assumptions — a decision-support framework, not an audited projection.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Per-Request Time (person-hours)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272B"/>
                </a:solidFill>
                <a:latin typeface="Calibri"/>
              </a:rPr>
              <a:t>Manual (today)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057400"/>
            <a:ext cx="5212080" cy="365760"/>
          </a:xfrm>
          <a:prstGeom prst="roundRect">
            <a:avLst>
              <a:gd name="adj" fmla="val 25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07568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~4.75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272B"/>
                </a:solidFill>
                <a:latin typeface="Calibri"/>
              </a:rPr>
              <a:t>Automated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2606040"/>
            <a:ext cx="502920" cy="36576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262432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2272B"/>
                </a:solidFill>
                <a:latin typeface="Calibri"/>
              </a:rPr>
              <a:t>~0.2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7B00"/>
                </a:solidFill>
                <a:latin typeface="Calibri"/>
              </a:rPr>
              <a:t>≈ 90–95% reduction in specialised staff time per RFP request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79476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07008"/>
                <a:gridCol w="1536192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Manual Activity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Gather quantitative metrics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0.5 – 1.0 hrs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Portfolio / Data Analyst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Retrieve &amp; read qualitative commentary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0.5 – 1.0 hrs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Portfolio Analyst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Draft the response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1.0 – 1.5 hrs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Relationship Mgr / Analyst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Compliance review &amp; edits (1–2 cycles)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1.0 – 2.0 hrs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Compliance Officer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Final polish &amp; sign-off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0.5 hrs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2272B"/>
                          </a:solidFill>
                          <a:latin typeface="Calibri"/>
                        </a:rPr>
                        <a:t>Relationship Manager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63640" y="16002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Illustrative Annualised Impact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263640" y="1965960"/>
          <a:ext cx="54406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374"/>
                <a:gridCol w="2448306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6200" marR="76200" marT="38100" marB="38100" anchor="ctr">
                    <a:solidFill>
                      <a:srgbClr val="232F3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Assumed RFP volume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50 / month  (600 / year)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Blended loaded staff cost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$90 / hour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Manual — hrs / request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~4.75 hrs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Automated — hrs / request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~0.2 hrs</a:t>
                      </a:r>
                    </a:p>
                  </a:txBody>
                  <a:tcPr marL="76200" marR="76200" marT="25400" marB="25400" anchor="ctr">
                    <a:solidFill>
                      <a:srgbClr val="F2F3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Hours saved / year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2272B"/>
                          </a:solidFill>
                          <a:latin typeface="Calibri"/>
                        </a:rPr>
                        <a:t>~2,730 hours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263640" y="448056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61772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9900"/>
                </a:solidFill>
                <a:latin typeface="Calibri"/>
              </a:rPr>
              <a:t>~$245,700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44068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8D3DE"/>
                </a:solidFill>
                <a:latin typeface="Calibri"/>
              </a:rPr>
              <a:t>illustrative annual cost saving at assumed volume — scales ~linearly with real RFP volume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SECTIONS 10–12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Governance, Advantages &amp; Current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474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FF9900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Compliance, Risk &amp;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Automated 5-rule rubric enforcement on every response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Fail-safe by construction — exactly 2 outcomes, never blended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Bounded, observable self-correction — escalates rather than guesses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Full audit trail — every decision, tool call, verdict logged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Data provenance — nothing generated from unverified model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Key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Speed at scale, seconds to low minutes vs. hours to days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Consistency across every analyst-originated request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Zero hallucination on the numbers — always tool-retrieved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Provider flexibility — same logic on Ollama or Bedrock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22272B"/>
                </a:solidFill>
                <a:latin typeface="Calibri"/>
              </a:rPr>
              <a:t>▪  Extensible — new agents added without touching existing 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1430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Current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63624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Phase 01 — Development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1618488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85415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40279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Phase 02 — Cloud Deployment (AWS)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2295144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Dev live-verified, then torn 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62072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916936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Phase 03 — CI/CD (GitHub Actions)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2971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Proven end-to-end on real AWS (Dev)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538728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593592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Phase 04 — Gateway, Memory &amp; Policy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3648456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Gateway/Memory live; Policy blocked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15384"/>
            <a:ext cx="5440680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27024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2272B"/>
                </a:solidFill>
                <a:latin typeface="Calibri"/>
              </a:rPr>
              <a:t>Staging / Production rollout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432511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8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Not yet run through the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8463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02A2A"/>
                </a:solidFill>
                <a:latin typeface="Calibri"/>
              </a:rPr>
              <a:t>Open Findings (Agent Behaviour &amp; Config, Not Infra)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166360"/>
            <a:ext cx="5440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22272B"/>
                </a:solidFill>
                <a:latin typeface="Calibri"/>
              </a:rPr>
              <a:t>▪  Qual agent fabricated commentary once when the KB was genuinely empty, instead of reporting “no data found”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22272B"/>
                </a:solidFill>
                <a:latin typeface="Calibri"/>
              </a:rPr>
              <a:t>▪  One well-grounded query still escalated after 3 attempts instead of its usual 1–2 — being investigated together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50" b="0">
                <a:solidFill>
                  <a:srgbClr val="22272B"/>
                </a:solidFill>
                <a:latin typeface="Calibri"/>
              </a:rPr>
              <a:t>▪  Dev-only config gap documented: the deployed dev Runtime's DATA_BACKEND was not set to “aws”, so it can silently fall back to local storage — flagged, fix pending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AMC RFP &amp; Portfolio Insight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56539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36E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8D3DE"/>
                </a:solidFill>
                <a:latin typeface="Calibri"/>
              </a:rPr>
              <a:t>Agentic AI, applied with the same discipline as any other production financial-services system, automates one of an AMC's most labour-intensive, compliance-sensitive workflows without compromising governance — proven not only in local development but as a real, deployed, CI/CD-automated AWS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9900"/>
                </a:solidFill>
                <a:latin typeface="Calibri"/>
              </a:rPr>
              <a:t>Recommended 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1.  Run the proven deploy pipeline against Staging, then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46704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2.  Apply &amp; live-verify the automated Knowledge Base sync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50208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3.  Investigate the open compliance-judgment and config findings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53712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4.  Load / latency testing under realistic concurrent volume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57216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5.  Integrate the deployed Runtime into the client-facing RFP 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60720"/>
            <a:ext cx="5669280" cy="502920"/>
          </a:xfrm>
          <a:prstGeom prst="roundRect">
            <a:avLst>
              <a:gd name="adj" fmla="val 15000"/>
            </a:avLst>
          </a:prstGeom>
          <a:solidFill>
            <a:srgbClr val="2E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6.  Extend Gateway/Memory to Staging &amp; Production; resolve the AgentCore Policy platform blocker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331720"/>
            <a:ext cx="4983480" cy="3840480"/>
          </a:xfrm>
          <a:prstGeom prst="roundRect">
            <a:avLst>
              <a:gd name="adj" fmla="val 4000"/>
            </a:avLst>
          </a:prstGeom>
          <a:solidFill>
            <a:srgbClr val="1B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51460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9900"/>
                </a:solidFill>
                <a:latin typeface="Calibri"/>
              </a:rPr>
              <a:t>Proven 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92608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▪  5-agent compliance-governed graph — Strands Agents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▪  Amazon Bedrock AgentCore Runtime — live-verified, all 4 mock funds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▪  Terraform-managed AWS footprint — reproducible, disposable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▪  GitHub Actions CI/CD — OIDC, no long-lived credentials, cold-start proven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7B4"/>
                </a:solidFill>
                <a:latin typeface="Calibri"/>
              </a:rPr>
              <a:t>AMC RFP &amp; Portfolio Insight Orchestrator  —  Built on the AWS Strands Agents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AMC RFP &amp; Portfolio Insight Orchestrator — Phases 01–03</dc:title>
  <dc:subject>Multi-agent Strands Agents system: local dev build, AWS Bedrock AgentCore deployment, and GitHub Actions CI/CD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